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-9601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4114800"/>
            <a:ext cx="2926080" cy="29260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ptos"/>
              </a:rPr>
              <a:t>PROJECT-BASED LEARNING  •  DASAR PEMROGRAMAN  •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0F172A"/>
                </a:solidFill>
                <a:latin typeface="Aptos"/>
              </a:rPr>
              <a:t>WARUNG
PAK DIN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54680"/>
            <a:ext cx="68580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D4ED8"/>
                </a:solidFill>
                <a:latin typeface="Aptos"/>
              </a:rPr>
              <a:t>Sistem Pemesanan Makanan dan Minuman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22191"/>
            <a:ext cx="65836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64748B"/>
                </a:solidFill>
                <a:latin typeface="Aptos"/>
              </a:rPr>
              <a:t>Program kasir Pascal untuk mencatat banyak menu, menghitung transaksi, memvalidasi pembayaran, dan mencetak struk.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389888"/>
            <a:ext cx="35204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5564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KELOMPOK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084831"/>
            <a:ext cx="2880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72A"/>
                </a:solidFill>
                <a:latin typeface="Aptos"/>
              </a:rPr>
              <a:t>Pria Sayang Mamah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4203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Kelas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017520"/>
            <a:ext cx="28346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Syahril Maimubdy  •  Programmer
Zafran Ali Ihsan  •  Algorithm Designer
Glen Neal  •  Presenter / Tester
Jonathan  •  Media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7040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Aptos"/>
              </a:rPr>
              <a:t>Dosen: Dr. Fuzy Yustika Manik, S.Kom., M.Kom.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989320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PRESENTASI PROYEK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02 /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Pencatatan transaksi perlu rapi dan konsisten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Masalah yang diselesaikan dan tujuan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2578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64008" cy="3200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8483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Tantangan kasir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23744"/>
            <a:ext cx="4873752" cy="2450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2033"/>
                </a:solidFill>
                <a:latin typeface="Aptos"/>
              </a:rPr>
              <a:t>• Banyak pilihan makanan dan minuman dengan harga berbeda.
• Satu pelanggan dapat memesan beberapa menu sekaligus.
• Subtotal, total item, pembayaran, dan kembalian rawan salah hitung jika dicatat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578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64008" cy="32004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8483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Solusi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23744"/>
            <a:ext cx="4873752" cy="2450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72033"/>
                </a:solidFill>
                <a:latin typeface="Aptos"/>
              </a:rPr>
              <a:t>Program Pascal menyimpan pesanan sebagai data terstruktur, menghitung nilai transaksi otomatis, menerima perubahan pesanan, menolak input yang tidak valid, lalu menampilkan struk.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5156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Aptos"/>
              </a:rPr>
              <a:t>Tujuan: membantu kasir Warung Pak Din mencatat pesanan dengan cepat, jelas, dan akurat.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03 / INPUT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Setiap input memiliki tipe dan aturan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Program menyediakan 30 menu: 20 makanan dan 10 minuman.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8800"/>
          <a:ext cx="66294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417320"/>
                <a:gridCol w="3703320"/>
              </a:tblGrid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Tipe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Peran / validasi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Nama pelanggan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string[50]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Identitas transaksi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Nomor menu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integer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1–30; dipetakan dengan CASE OF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Jumlah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integer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Harus lebih dari 0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Nomor &amp; jumlah edit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integer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Nomor harus ada; pengurangan 1 hingga jumlah saat ini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Uang bayar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longint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Harus minimal sama dengan total belanja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828800"/>
            <a:ext cx="3886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828800"/>
            <a:ext cx="64008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993392"/>
            <a:ext cx="35204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Record TPesanan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2432304"/>
            <a:ext cx="350215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72033"/>
                </a:solidFill>
                <a:latin typeface="Aptos"/>
              </a:rPr>
              <a:t>namaMenu, harga, jumlah, subtotal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657600"/>
            <a:ext cx="38862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3657600"/>
            <a:ext cx="64008" cy="178308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8" y="3822191"/>
            <a:ext cx="35204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Array pesanan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4261104"/>
            <a:ext cx="3502152" cy="10332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72033"/>
                </a:solidFill>
                <a:latin typeface="Aptos"/>
              </a:rPr>
              <a:t>pesanan[1..100] menyimpan sampai 100 jenis pesanan dalam satu sesi.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42432"/>
            <a:ext cx="10698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Input lain: pilihan menu utama, pilihan pengelolaan pesanan, dan aksi pada ringkasan transaksi.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04 / PROSES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Harga × jumlah menjadi dasar seluruh perhitungan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Sequence, selection, dan repetition bekerja bersama selama transaksi.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492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498347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Tambah pesanan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32304"/>
            <a:ext cx="4965192" cy="2724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2033"/>
                </a:solidFill>
                <a:latin typeface="Aptos"/>
              </a:rPr>
              <a:t>1. Nomor menu dipetakan ke nama dan harga.
2. Jumlah harus positif.
3. subtotal = harga × jumlah.
4. Subtotal, total item, dan total belanja diperbarui.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57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64008" cy="347472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Edit dan pembayaran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432304"/>
            <a:ext cx="4873752" cy="2724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2033"/>
                </a:solidFill>
                <a:latin typeface="Aptos"/>
              </a:rPr>
              <a:t>• Pengurangan mengubah jumlah, subtotal, dan total. Jika jumlah menjadi 0, record dihapus.
• Pembayaran yang kurang ditolak dan diminta ulang.
• Kembalian = uang bayar − total belanja.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984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Contoh: 2 Nasi Goreng × Rp15.000 + 1 Es Teh × Rp5.000 = total Rp35.000.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05 / ALGORITMA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Langkah penyelesaian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Algoritma ringkas berdasarkan alur program Pascal Warung Pak Din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56231"/>
            <a:ext cx="493776" cy="4937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56815"/>
            <a:ext cx="4937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847088"/>
            <a:ext cx="47091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Tampilkan menu utama; pengguna memilih mulai, tentang program, atau keluar.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16352"/>
            <a:ext cx="493776" cy="4937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916936"/>
            <a:ext cx="4937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807208"/>
            <a:ext cx="47091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Saat transaksi dimulai, kosongkan semua total lalu minta nama pelanggan.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493776" cy="4937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877056"/>
            <a:ext cx="4937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767328"/>
            <a:ext cx="47091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Tampilkan menu pengelolaan; pengguna dapat menambah, melihat, mengedit, selesai, atau membatalkan pesanan.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36592"/>
            <a:ext cx="493776" cy="4937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37176"/>
            <a:ext cx="4937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727448"/>
            <a:ext cx="47091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Saat menambah, validasi nomor menu 1–30 dan jumlah lebih dari 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1856231"/>
            <a:ext cx="493776" cy="493776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956815"/>
            <a:ext cx="4937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847088"/>
            <a:ext cx="47091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Tentukan nama serta harga menu, hitung subtotal = harga × jumlah, lalu simpan pesanan dan perbarui total.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816352"/>
            <a:ext cx="493776" cy="493776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916936"/>
            <a:ext cx="4937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807208"/>
            <a:ext cx="47091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Jika pesanan diedit, kurangi jumlah dan subtotal; hapus record bila jumlahnya menjadi 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776472"/>
            <a:ext cx="493776" cy="493776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877056"/>
            <a:ext cx="4937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767328"/>
            <a:ext cx="47091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Jika transaksi selesai, tampilkan ringkasan; pengguna dapat kembali mengubah pesanan atau lanjut membayar.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736592"/>
            <a:ext cx="493776" cy="493776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4837176"/>
            <a:ext cx="49377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727448"/>
            <a:ext cx="470916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Ulangi pembayaran sampai uang mencukupi, hitung kembalian, cetak struk, lalu kembali ke menu utama.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06 /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Alur keputusan dan pengulangan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Ringkasan flowchart: alur bercabang sesuai pilihan pelanggan dan hasil validasi.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417320" cy="5120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11679"/>
            <a:ext cx="127101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MULAI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965960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2011679"/>
            <a:ext cx="1865376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Input nama
dan kosongkan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965960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2011679"/>
            <a:ext cx="2002536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Tambah / lihat / edit
pesanan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965960"/>
            <a:ext cx="1691640" cy="658368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011679"/>
            <a:ext cx="1545336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Ada pesanan?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657600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3703320"/>
            <a:ext cx="1865376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Bayar dan cetak struk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3657600"/>
            <a:ext cx="1417320" cy="5120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13832" y="3703320"/>
            <a:ext cx="127101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SELESAI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0280" y="2286000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80" y="2286000"/>
            <a:ext cx="5943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2286000"/>
            <a:ext cx="685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52560" y="2624328"/>
            <a:ext cx="0" cy="103327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89720" y="2971800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Ya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858000" y="4005072"/>
            <a:ext cx="1325879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86400" y="2624328"/>
            <a:ext cx="685800" cy="103327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0" y="3054096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Kembali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83480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2033"/>
                </a:solidFill>
                <a:latin typeface="Aptos"/>
              </a:rPr>
              <a:t>Jika uang &lt; total: minta pembayaran ulang. Jika sesi dibatalkan: kosongkan semua data lalu kembali ke menu utama.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07 /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Struktur Pascal yang menggerakkan kasir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Program memakai record, array, selection, dan perulangan untuk menjaga transaksi konsisten.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64008" cy="3246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93392"/>
            <a:ext cx="3154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CASE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313639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72033"/>
                </a:solidFill>
                <a:latin typeface="Aptos"/>
              </a:rPr>
              <a:t>Nomor 1–30 dipetakan ke nama dan harga menu.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64008" cy="32461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3154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IF / 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32304"/>
            <a:ext cx="313639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72033"/>
                </a:solidFill>
                <a:latin typeface="Aptos"/>
              </a:rPr>
              <a:t>Memvalidasi nomor menu, jumlah, pilihan, pengurangan, dan kecukupan uang.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82880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828800"/>
            <a:ext cx="64008" cy="324612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93392"/>
            <a:ext cx="3154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FOR + REPEAT UNTIL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32304"/>
            <a:ext cx="313639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2033"/>
                </a:solidFill>
                <a:latin typeface="Aptos"/>
              </a:rPr>
              <a:t>FOR menelusuri pesanan untuk struk. REPEAT UNTIL mengulang pengelolaan dan pembayaran.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394960"/>
            <a:ext cx="10469880" cy="62179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59552"/>
            <a:ext cx="10012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scadia Code"/>
              </a:rPr>
              <a:t>subtotalPesanan := hargaMenuDipilih * jumlah;    |    kembalian := uangBayar - totalBelanja;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08 / SIMULASI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Contoh satu transaksi dari awal sampai struk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Simulasi browser mereplikasi alur keranjang multi-menu dan validasi pembayaran.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337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2788920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F172A"/>
                </a:solidFill>
                <a:latin typeface="Aptos"/>
              </a:rPr>
              <a:t>2 Nasi Goreng
1 Es Teh
Bayar Rp40.000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33088" y="3337560"/>
            <a:ext cx="30175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2240280"/>
            <a:ext cx="3337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51460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Aptos"/>
              </a:rPr>
              <a:t>HITUNG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71800"/>
            <a:ext cx="2788920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F172A"/>
                </a:solidFill>
                <a:latin typeface="Aptos"/>
              </a:rPr>
              <a:t>Nasi Goreng: 2 × Rp15.000 = Rp30.000
Es Teh: 1 × Rp5.000 = Rp5.000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73568" y="3337560"/>
            <a:ext cx="30175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2240280"/>
            <a:ext cx="3337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251460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71800"/>
            <a:ext cx="2788920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Total item: 3
Total belanja: Rp35.000
Kembalian: Rp5.000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38928"/>
            <a:ext cx="103784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2033"/>
                </a:solidFill>
                <a:latin typeface="Aptos"/>
              </a:rPr>
              <a:t>Simulasi juga mendukung tambah/kurangi menu, batal sesi, kembali ke pesanan, pembayaran, dan tampilan struk.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09 /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Uji pemahaman konsep dan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Web menyediakan quiz pilihan ganda, feedback jawaban, progress, dan nilai akhir.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3291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Tiga pokok quiz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32304"/>
            <a:ext cx="4873752" cy="2542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72033"/>
                </a:solidFill>
                <a:latin typeface="Aptos"/>
              </a:rPr>
              <a:t>1. Struktur pemetaan nomor menu: CASE OF.
2. Rumus subtotal: harga × jumlah.
3. Pembayaran berhenti saat uang bayar ≥ total belanja.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2578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32918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93392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Tebak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32304"/>
            <a:ext cx="4873752" cy="2542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2033"/>
                </a:solidFill>
                <a:latin typeface="Aptos"/>
              </a:rPr>
              <a:t>2 Nasi Goreng + 1 Es Teh, lalu bayar Rp40.000.
Jawaban: total Rp35.000, 3 item, kembalian Rp5.000.
Jawaban langsung mendapat feedback benar atau petunjuk perbaikan.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32120"/>
            <a:ext cx="10561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Aptos"/>
              </a:rPr>
              <a:t>Nilai akhir quiz ditampilkan dari 0–100, disertai pesan tindak lanjut sesuai hasil.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10 / 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Konsep dasar menjadi solusi transaksi nyata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Ringkasan dan refleksi proyek dari halaman penutup media interaktif.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64008" cy="137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4846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Hasil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23744"/>
            <a:ext cx="482803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Pemesanan, subtotal, total, pembayaran, dan kembalian tercatat terstruktur.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920240"/>
            <a:ext cx="64008" cy="13716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084832"/>
            <a:ext cx="4846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Konsep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523744"/>
            <a:ext cx="482803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Variabel, record, array, operator, CASE OF, IF ELSE, FOR, REPEAT UNTIL.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11880"/>
            <a:ext cx="64008" cy="137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776472"/>
            <a:ext cx="4846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Refleksi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215384"/>
            <a:ext cx="482803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Tantangan utama: menjaga data tetap konsisten saat diedit atau dihapus.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61188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611880"/>
            <a:ext cx="64008" cy="13716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776472"/>
            <a:ext cx="4846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Pengembangan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15384"/>
            <a:ext cx="482803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72033"/>
                </a:solidFill>
                <a:latin typeface="Aptos"/>
              </a:rPr>
              <a:t>Fitur berikutnya dapat mencakup diskon, stok, pencarian menu, penyimpanan transaksi, dan laporan harian.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BAGIAN 8 / PENGUJIAN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Lima skenario untuk menguji perilaku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Output program pada tabel adalah prediksi berdasarkan source; belum dieksekusi interaktif di terminal.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1828800"/>
          <a:ext cx="103144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/>
                <a:gridCol w="2011680"/>
                <a:gridCol w="1600200"/>
                <a:gridCol w="2423160"/>
                <a:gridCol w="2880360"/>
                <a:gridCol w="960120"/>
              </a:tblGrid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Kondisi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Output yang diharapkan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Output program*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2 Nasi Goreng, 1 Es Teh; bayar 40.000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Normal / multi-menu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3 item; total Rp35.000; kembali Rp5.000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Struk berisi 2 menu; total Rp35.000; kembali Rp5.000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D97706"/>
                          </a:solidFill>
                          <a:latin typeface="Aptos"/>
                        </a:rPr>
                        <a:t>Belum diuji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Menu 1; jumlah 0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Batas / validasi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Pesanan ditolak; total tetap 0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“Jumlah pesanan tidak valid!”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D97706"/>
                          </a:solidFill>
                          <a:latin typeface="Aptos"/>
                        </a:rPr>
                        <a:t>Belum diuji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Nomor menu 31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Input berbeda / di luar batas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Menu ditolak; minta nomor 1–30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“Menu tidak tersedia!”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D97706"/>
                          </a:solidFill>
                          <a:latin typeface="Aptos"/>
                        </a:rPr>
                        <a:t>Belum diuji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Pesan 2 Nasi Goreng; kurangi 1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Selection / edit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Sisa 1 item; subtotal Rp15.000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Jumlah sekarang 1; subtotal Rp15.000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D97706"/>
                          </a:solidFill>
                          <a:latin typeface="Aptos"/>
                        </a:rPr>
                        <a:t>Belum diuji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Total Rp35.000; bayar 30.000 lalu 40.000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Repetition / pembayaran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Pembayaran pertama ditolak; kedua diterima; kembali Rp5.000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72033"/>
                          </a:solidFill>
                          <a:latin typeface="Aptos"/>
                        </a:rPr>
                        <a:t>Minta ulang karena kurang Rp5.000; lalu cetak struk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D97706"/>
                          </a:solidFill>
                          <a:latin typeface="Aptos"/>
                        </a:rPr>
                        <a:t>Belum diuji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596128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4748B"/>
                </a:solidFill>
                <a:latin typeface="Aptos"/>
              </a:rPr>
              <a:t>*Compiler FPC berhasil mengompilasi source. Status skenario tetap “Belum diuji” karena runtime memakai CRT dan belum diverifikasi melalui sesi terminal interaktif.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BAGIAN 9 / ERROR DAN PERBAIKAN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Contoh kesalahan dan cara memperbaikinya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Satu refleksi berasal dari catatan proyek; dua baris lain adalah kesalahan umum yang perlu dihindari.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971800"/>
                <a:gridCol w="2788920"/>
                <a:gridCol w="4617720"/>
              </a:tblGrid>
              <a:tr h="8001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Kesalahan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Penyebab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Perbaikan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Kembali ke pesanan mengulang input nama dan mengosongkan transaksi.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Alur kembali memulai transaksi baru / mereset data.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Kelola perubahan dalam loop proses yang sama; jangan memulai sesi baru.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if nilai := 60 then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:= adalah operator assignment, bukan pembanding.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Gunakan: if nilai = 60 then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subtotal := harga + jumlah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Subtotal dihitung dengan operasi yang salah.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72033"/>
                          </a:solidFill>
                          <a:latin typeface="Aptos"/>
                        </a:rPr>
                        <a:t>Gunakan: subtotal := harga * jumlah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440680"/>
            <a:ext cx="10287000" cy="56692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05272"/>
            <a:ext cx="9921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DC2626"/>
                </a:solidFill>
                <a:latin typeface="Aptos"/>
              </a:rPr>
              <a:t>Gunakan operator sesuai tujuan: := untuk memberi nilai, = untuk membandingkan.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BAGIAN 11 / ELEMEN INTERAKTIF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Media web menyediakan lebih dari tiga interaksi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Materi disusun sebagai slideshow web 10 halaman: Home, Masalah, Input, Proses, Algoritma, Flowchart, Source Code, Simulasi, Quiz, Kesimpulan.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28800"/>
          <a:ext cx="1088136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7040880"/>
              </a:tblGrid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Elemen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Digunakan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Bentuk di web</a:t>
                      </a:r>
                    </a:p>
                  </a:txBody>
                  <a:tcPr marL="54864" marR="54864" marT="36576" marB="27432" anchor="ctr">
                    <a:solidFill>
                      <a:srgbClr val="0F172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Tombol navigasi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Sebelumnya/berikutnya, menu materi, panah keyboard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Hyperlink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Tautan antarhalaman, source code, dan versi live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Quiz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3 pertanyaan, progress, nilai 0–100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Tebak output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Tantangan transaksi dan pemeriksaan jawaban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Animasi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Animasi masuk bertahap; menghormati reduced motion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Simulasi input-output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Keranjang, edit, batal, pembayaran, dan struk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Klik untuk penjelasan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Accordion dan baris tabel input yang dapat dipilih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Feedback jawaban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Feedback tiap soal dan hasil quiz</a:t>
                      </a:r>
                    </a:p>
                  </a:txBody>
                  <a:tcPr marL="54864" marR="54864" marT="36576" marB="27432" anchor="ctr">
                    <a:solidFill>
                      <a:srgbClr val="EFF6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Menu interaktif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72033"/>
                          </a:solidFill>
                          <a:latin typeface="Aptos"/>
                        </a:rPr>
                        <a:t>Dialog daftar slide dengan progres presentasi</a:t>
                      </a:r>
                    </a:p>
                  </a:txBody>
                  <a:tcPr marL="54864" marR="54864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772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ELEMEN YANG DIGUNAKAN KELOMPOK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Aptos"/>
              </a:rPr>
              <a:t>Empat elemen utama untuk demonstrasi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Checklist singkat yang dapat dipindahkan langsung ke lembar kerja.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Aptos"/>
              </a:rPr>
              <a:t>WARUNG PAK DIN 2  |  PjBL DASAR PEMROGRAMAN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5669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47672"/>
            <a:ext cx="8961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72A"/>
                </a:solidFill>
                <a:latin typeface="Aptos"/>
              </a:rPr>
              <a:t>Tombol navigasi dan menu materi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8892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98648"/>
            <a:ext cx="5669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862072"/>
            <a:ext cx="8961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72A"/>
                </a:solidFill>
                <a:latin typeface="Aptos"/>
              </a:rPr>
              <a:t>Simulasi input-output transaksi kasir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13048"/>
            <a:ext cx="5669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76472"/>
            <a:ext cx="8961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72A"/>
                </a:solidFill>
                <a:latin typeface="Aptos"/>
              </a:rPr>
              <a:t>Quiz interaktif dengan feedback dan nilai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1772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27448"/>
            <a:ext cx="5669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90872"/>
            <a:ext cx="8961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172A"/>
                </a:solidFill>
                <a:latin typeface="Aptos"/>
              </a:rPr>
              <a:t>Tebak output program dengan pemeriksaan jawaban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Warung Pak Din 2 - Sistem Pemesanan Makanan dan Minuman</dc:title>
  <dc:subject>PjBL Dasar Pemrograman: algoritma, pengujian, dan media interaktif</dc:subject>
  <dc:creator>Kelompok Pria Sayang Mamah</dc:creator>
  <cp:keywords>Pascal, kasir, Warung Pak Din 2, PjBL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